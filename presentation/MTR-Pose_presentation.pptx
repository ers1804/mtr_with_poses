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7-3.svg" ContentType="image/svg+xml"/>
  <Override PartName="/ppt/media/image-7-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68" r:id="rId40"/>
    <p:sldId id="266" r:id="rId38"/>
    <p:sldId id="258" r:id="rId4"/>
    <p:sldId id="269" r:id="rId41"/>
    <p:sldId id="270" r:id="rId42"/>
    <p:sldId id="261" r:id="rId7"/>
    <p:sldId id="262" r:id="rId8"/>
    <p:sldId id="267" r:id="rId39"/>
    <p:sldId id="271" r:id="rId43"/>
    <p:sldId id="272" r:id="rId44"/>
    <p:sldId id="273" r:id="rId45"/>
  </p:sldIdLst>
  <p:notesMasterIdLst>
    <p:notesMasterId r:id="rId12"/>
  </p:notesMasterIdLst>
  <p:sldSz cx="12191695" cy="6858000"/>
  <p:notesSz cx="6858000" cy="12191695"/>
  <p:embeddedFontLst>
    <p:embeddedFont>
      <p:font typeface="Crimson Pro Medium"/>
      <p:regular r:id="rId201314"/>
    </p:embeddedFont>
    <p:embeddedFont>
      <p:font typeface="Crimson Pro ExtraBold"/>
      <p:regular r:id="rId201315"/>
    </p:embeddedFont>
    <p:embeddedFont>
      <p:font typeface="Crimson Pro Black"/>
      <p:regular r:id="rId201316"/>
    </p:embeddedFont>
    <p:embeddedFont>
      <p:font typeface="Crimson Pro ExtraLight"/>
      <p:regular r:id="rId201317"/>
    </p:embeddedFont>
    <p:embeddedFont>
      <p:font typeface="Crimson Pro Light"/>
      <p:regular r:id="rId201318"/>
    </p:embeddedFont>
    <p:embeddedFont>
      <p:font typeface="Crimson Pro"/>
      <p:regular r:id="rId201319"/>
    </p:embeddedFont>
    <p:embeddedFont>
      <p:font typeface="Crimson Pro SemiBold"/>
      <p:regular r:id="rId201320"/>
    </p:embeddedFont>
    <p:embeddedFont>
      <p:font typeface="Crimson Pro Bold"/>
      <p:regular r:id="rId201321"/>
    </p:embeddedFont>
    <p:embeddedFont>
      <p:font typeface="Heebo Thin"/>
      <p:regular r:id="rId201322"/>
    </p:embeddedFont>
    <p:embeddedFont>
      <p:font typeface="Heebo ExtraLight"/>
      <p:regular r:id="rId201323"/>
    </p:embeddedFont>
    <p:embeddedFont>
      <p:font typeface="Heebo Light"/>
      <p:regular r:id="rId201324"/>
    </p:embeddedFont>
    <p:embeddedFont>
      <p:font typeface="Heebo"/>
      <p:regular r:id="rId201325"/>
    </p:embeddedFont>
    <p:embeddedFont>
      <p:font typeface="Heebo Medium"/>
      <p:regular r:id="rId201326"/>
    </p:embeddedFont>
    <p:embeddedFont>
      <p:font typeface="Heebo SemiBold"/>
      <p:regular r:id="rId201327"/>
    </p:embeddedFont>
    <p:embeddedFont>
      <p:font typeface="Heebo Bold"/>
      <p:regular r:id="rId201328"/>
    </p:embeddedFont>
    <p:embeddedFont>
      <p:font typeface="Heebo ExtraBold"/>
      <p:regular r:id="rId201329"/>
    </p:embeddedFont>
    <p:embeddedFont>
      <p:font typeface="Heebo Black"/>
      <p:regular r:id="rId2013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4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38" Type="http://schemas.openxmlformats.org/officeDocument/2006/relationships/slide" Target="slides/slide3.xml"/><Relationship Id="rId39" Type="http://schemas.openxmlformats.org/officeDocument/2006/relationships/slide" Target="slides/slide9.xml"/><Relationship Id="rId40" Type="http://schemas.openxmlformats.org/officeDocument/2006/relationships/slide" Target="slides/slide2.xml"/><Relationship Id="rId41" Type="http://schemas.openxmlformats.org/officeDocument/2006/relationships/slide" Target="slides/slide5.xml"/><Relationship Id="rId42" Type="http://schemas.openxmlformats.org/officeDocument/2006/relationships/slide" Target="slides/slide6.xml"/><Relationship Id="rId43" Type="http://schemas.openxmlformats.org/officeDocument/2006/relationships/slide" Target="slides/slide10.xml"/><Relationship Id="rId44" Type="http://schemas.openxmlformats.org/officeDocument/2006/relationships/slide" Target="slides/slide11.xml"/><Relationship Id="rId45" Type="http://schemas.openxmlformats.org/officeDocument/2006/relationships/slide" Target="slides/slide12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Relationship Id="rId201316" Type="http://schemas.openxmlformats.org/officeDocument/2006/relationships/font" Target="fonts/201316.fntdata"/><Relationship Id="rId201317" Type="http://schemas.openxmlformats.org/officeDocument/2006/relationships/font" Target="fonts/201317.fntdata"/><Relationship Id="rId201318" Type="http://schemas.openxmlformats.org/officeDocument/2006/relationships/font" Target="fonts/201318.fntdata"/><Relationship Id="rId201319" Type="http://schemas.openxmlformats.org/officeDocument/2006/relationships/font" Target="fonts/201319.fntdata"/><Relationship Id="rId201320" Type="http://schemas.openxmlformats.org/officeDocument/2006/relationships/font" Target="fonts/201320.fntdata"/><Relationship Id="rId201321" Type="http://schemas.openxmlformats.org/officeDocument/2006/relationships/font" Target="fonts/201321.fntdata"/><Relationship Id="rId201322" Type="http://schemas.openxmlformats.org/officeDocument/2006/relationships/font" Target="fonts/201322.fntdata"/><Relationship Id="rId201323" Type="http://schemas.openxmlformats.org/officeDocument/2006/relationships/font" Target="fonts/201323.fntdata"/><Relationship Id="rId201324" Type="http://schemas.openxmlformats.org/officeDocument/2006/relationships/font" Target="fonts/201324.fntdata"/><Relationship Id="rId201325" Type="http://schemas.openxmlformats.org/officeDocument/2006/relationships/font" Target="fonts/201325.fntdata"/><Relationship Id="rId201326" Type="http://schemas.openxmlformats.org/officeDocument/2006/relationships/font" Target="fonts/201326.fntdata"/><Relationship Id="rId201327" Type="http://schemas.openxmlformats.org/officeDocument/2006/relationships/font" Target="fonts/201327.fntdata"/><Relationship Id="rId201328" Type="http://schemas.openxmlformats.org/officeDocument/2006/relationships/font" Target="fonts/201328.fntdata"/><Relationship Id="rId201329" Type="http://schemas.openxmlformats.org/officeDocument/2006/relationships/font" Target="fonts/201329.fntdata"/><Relationship Id="rId201330" Type="http://schemas.openxmlformats.org/officeDocument/2006/relationships/font" Target="fonts/201330.fntdata"/><Relationship Id="rId201331" Type="http://schemas.openxmlformats.org/officeDocument/2006/relationships/font" Target="fonts/201331.fntdata"/><Relationship Id="rId201332" Type="http://schemas.openxmlformats.org/officeDocument/2006/relationships/font" Target="fonts/201332.fntdata"/><Relationship Id="rId201333" Type="http://schemas.openxmlformats.org/officeDocument/2006/relationships/font" Target="fonts/201333.fntdata"/><Relationship Id="rId201334" Type="http://schemas.openxmlformats.org/officeDocument/2006/relationships/font" Target="fonts/201334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2.png"/><Relationship Id="rId5" Type="http://schemas.openxmlformats.org/officeDocument/2006/relationships/image" Target="../media/image-7-3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2.png"/><Relationship Id="rId9" Type="http://schemas.openxmlformats.org/officeDocument/2006/relationships/image" Target="../media/image-7-3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655862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How Much Does Body Pose Help Pedestrian Trajectory Forecasting?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3503414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A Seed-Replicated Study and Auxiliary-Loss Audit on Waymo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5233360" y="4082157"/>
            <a:ext cx="6296860" cy="1119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Pose-conditioned Motion Transformer (MTR) on the Waymo Open Motion Dataset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Author · Advisor · Date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D47"/>
                </a:solidFill>
                <a:latin typeface="Crimson Pro SemiBold"/>
              </a:rPr>
              <a:t>Question, Setup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Question — </a:t>
            </a:r>
            <a:r>
              <a:rPr sz="1350">
                <a:solidFill>
                  <a:srgbClr val="4C4C4D"/>
                </a:solidFill>
                <a:latin typeface="Heebo"/>
              </a:rPr>
              <a:t>Forecasters (MTR) use position, velocity, HD-map geometry but ignore body pose, which plausibly encodes intent. Does conditioning MTR on past SMPL poses help — and what drives the gain?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Setup — </a:t>
            </a:r>
            <a:r>
              <a:rPr sz="1350">
                <a:solidFill>
                  <a:srgbClr val="4C4C4D"/>
                </a:solidFill>
                <a:latin typeface="Heebo"/>
              </a:rPr>
              <a:t>MTR + pose branch (past 11 SMPL poses, 6-D rotations; GRU or cross-attention encoder) + auxiliary future-pose losses · Waymo pedestrian subset (579 train scenes; 6,688 eval pedestrians) · LiDAR-derived SMPL pseudo-GT (Waymo-3DSkelMo) · minADE/minFDE over 6 modes; MR@2m as external anchor.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Roadmap — a result and THREE corrections of our own results: </a:t>
            </a:r>
            <a:r>
              <a:rPr sz="1350">
                <a:solidFill>
                  <a:srgbClr val="4C4C4D"/>
                </a:solidFill>
                <a:latin typeface="Heebo"/>
              </a:rPr>
              <a:t>the −7.6% geodesic claim, the −3.5% “stable encoder” claim, and the PE-ordering mechanism were all seed artifacts, each caught by seed replication (now 5 seeds per configuration, clean code provenance).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Bottom line up front — </a:t>
            </a:r>
            <a:r>
              <a:rPr sz="1350">
                <a:solidFill>
                  <a:srgbClr val="4C4C4D"/>
                </a:solidFill>
                <a:latin typeface="Heebo"/>
              </a:rPr>
              <a:t>pose helps in exactly one configuration (HD map × cross-attention+PE), by ~1.6% (p&lt;1e-4), and control ablations show that benefit is genuine body-configuration signal — not heading, not a frame artifact. Context (map −26%, pretraining −23%) dominates.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D47"/>
                </a:solidFill>
                <a:latin typeface="Crimson Pro SemiBold"/>
              </a:rPr>
              <a:t>Architecture: What We Changed in MTR</a:t>
            </a:r>
          </a:p>
        </p:txBody>
      </p:sp>
      <p:pic>
        <p:nvPicPr>
          <p:cNvPr id="3" name="Picture 2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48840"/>
            <a:ext cx="6400800" cy="26232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881846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4C4C4D"/>
                </a:solidFill>
                <a:latin typeface="Heebo"/>
              </a:rPr>
              <a:t>MTR + pose branch. Our additions are the pose pathway (blue); the MTR context encoder, map attention, and GMM trajectory decoder are unchanged.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0" y="1371600"/>
            <a:ext cx="47091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Pose encoder — </a:t>
            </a:r>
            <a:r>
              <a:rPr sz="1350">
                <a:solidFill>
                  <a:srgbClr val="4C4C4D"/>
                </a:solidFill>
                <a:latin typeface="Heebo"/>
              </a:rPr>
              <a:t>2-layer GRU (or cross-attention + sinusoidal PE) over the past 11 SMPL poses (144-D, 6-D rotations) → 256-D pose feature.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Pose fusion — </a:t>
            </a:r>
            <a:r>
              <a:rPr sz="1350">
                <a:solidFill>
                  <a:srgbClr val="4C4C4D"/>
                </a:solidFill>
                <a:latin typeface="Heebo"/>
              </a:rPr>
              <a:t>concatenated with the MTR agent feature and projected by an MLP “fuser”; a residual zero-init variant preserves a pretrained backbone when fine-tuning.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Auxiliary pose heads — </a:t>
            </a:r>
            <a:r>
              <a:rPr sz="1350">
                <a:solidFill>
                  <a:srgbClr val="4C4C4D"/>
                </a:solidFill>
                <a:latin typeface="Heebo"/>
              </a:rPr>
              <a:t>per decoder layer, predict future poses (24 joints × 6-D, 6 modes) plus a pose-mode classifier.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Auxiliary pose losses — </a:t>
            </a:r>
            <a:r>
              <a:rPr sz="1350">
                <a:solidFill>
                  <a:srgbClr val="4C4C4D"/>
                </a:solidFill>
                <a:latin typeface="Heebo"/>
              </a:rPr>
              <a:t>WTA-L1, geodesic, MPJPE, classification (w = 0.1). Our audit shows these are inert on 10-fps data.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Correctness &amp; evaluation — </a:t>
            </a:r>
            <a:r>
              <a:rPr sz="1350">
                <a:solidFill>
                  <a:srgbClr val="4C4C4D"/>
                </a:solidFill>
                <a:latin typeface="Heebo"/>
              </a:rPr>
              <a:t>future-pose validity mask; per-pedestrian paired + hierarchical (seed) bootstrap.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1620"/>
            <a:ext cx="10868745" cy="1104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Part 1 — Auxiliary-Loss Audit: an Inert Loss Credited With the Headline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661475" y="2082998"/>
            <a:ext cx="5218776" cy="2908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An earlier draft claimed: </a:t>
            </a:r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"geodesic SO(3) supervision is the critical ingredient"</a:t>
            </a:r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→ </a:t>
            </a:r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2150FE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−7.6% minADE</a:t>
            </a:r>
            <a:pPr algn="l" indent="0" marL="0">
              <a:lnSpc>
                <a:spcPct val="129000"/>
              </a:lnSpc>
              <a:spcAft>
                <a:spcPts val="1150"/>
              </a:spcAft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135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Why this is impossible:</a:t>
            </a:r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in the 10 fps data, future-pose targets are absent — only </a:t>
            </a:r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5 of 91,520</a:t>
            </a:r>
            <a:pPr algn="l" indent="0" marL="0">
              <a:lnSpc>
                <a:spcPct val="129000"/>
              </a:lnSpc>
              <a:spcAft>
                <a:spcPts val="1150"/>
              </a:spcAft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future-pose steps are non-zero.</a:t>
            </a:r>
            <a:endParaRPr lang="en-US" sz="135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 zero 6-D target maps to the all-zero rotation ⇒ geodesic loss ≡ arccos(−½), a </a:t>
            </a:r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constant with identically zero gradient</a:t>
            </a:r>
            <a:pPr algn="l" indent="0" marL="0">
              <a:lnSpc>
                <a:spcPct val="129000"/>
              </a:lnSpc>
              <a:spcAft>
                <a:spcPts val="1150"/>
              </a:spcAft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(verified numerically).</a:t>
            </a:r>
            <a:endParaRPr lang="en-US" sz="135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two "different" configurations compared were the </a:t>
            </a:r>
            <a:pPr algn="l" indent="0" marL="0">
              <a:lnSpc>
                <a:spcPct val="129000"/>
              </a:lnSpc>
              <a:buNone/>
            </a:pPr>
            <a:r>
              <a:rPr lang="en-US" sz="135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same experiment under different seeds</a:t>
            </a:r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317794" y="2120205"/>
            <a:ext cx="2526741" cy="2439194"/>
          </a:xfrm>
          <a:prstGeom prst="roundRect">
            <a:avLst>
              <a:gd name="adj" fmla="val 1087"/>
            </a:avLst>
          </a:prstGeom>
          <a:solidFill>
            <a:srgbClr val="F2EE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94498" y="2296914"/>
            <a:ext cx="2173332" cy="552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Check 1: Target Coverage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94498" y="3014464"/>
            <a:ext cx="2173332" cy="136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Audit every loss against the data — verify that targets are actually non-zero before crediting any improvement.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009829" y="2120205"/>
            <a:ext cx="2526741" cy="2439194"/>
          </a:xfrm>
          <a:prstGeom prst="roundRect">
            <a:avLst>
              <a:gd name="adj" fmla="val 1087"/>
            </a:avLst>
          </a:prstGeom>
          <a:solidFill>
            <a:srgbClr val="F2EE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86533" y="2296914"/>
            <a:ext cx="2173332" cy="552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Check 2: Per-Term Gradient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86533" y="3014464"/>
            <a:ext cx="2173332" cy="136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Inspect per-term gradients on a real batch — a constant loss produces identically zero gradients and cannot drive learning.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61475" y="5326658"/>
            <a:ext cx="10868745" cy="949623"/>
          </a:xfrm>
          <a:prstGeom prst="roundRect">
            <a:avLst>
              <a:gd name="adj" fmla="val 2792"/>
            </a:avLst>
          </a:prstGeom>
          <a:solidFill>
            <a:srgbClr val="FFB3B4"/>
          </a:solidFill>
          <a:ln/>
        </p:spPr>
        <p:txBody>
          <a:bodyPr/>
          <a:p/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179" y="5576987"/>
            <a:ext cx="220855" cy="17670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35739" y="5536109"/>
            <a:ext cx="10117777" cy="547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−7.6% minADE headline was a seed artifact. Two cheap checks — target coverage and per-term gradient inspection — would have caught it immediately.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D47"/>
                </a:solidFill>
                <a:latin typeface="Crimson Pro SemiBold"/>
              </a:rPr>
              <a:t>Part 2 — Seed Replication Dissolves Two More Effects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4663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2D47"/>
                          </a:solidFill>
                          <a:latin typeface="Heebo"/>
                        </a:rPr>
                        <a:t>Encoder (no map)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2D47"/>
                          </a:solidFill>
                          <a:latin typeface="Heebo"/>
                        </a:rPr>
                        <a:t>minADE (mean ± std, n=5)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2D47"/>
                          </a:solidFill>
                          <a:latin typeface="Heebo"/>
                        </a:rPr>
                        <a:t>per-seed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No pose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0.6604 ± 0.0143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.655 .683 .664 .654 .646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GRU + WTA-L1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0.6853 ± 0.0651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.639 .785 .629 .717 .657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GRU, no auxiliary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0.6545 ± 0.0271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.696 .665 .639 .626 .647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Cross-attention + 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0.6648 ± 0.0381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.640 .634 .637 .710 .703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At n = 3, </a:t>
            </a:r>
            <a:r>
              <a:rPr sz="1350">
                <a:solidFill>
                  <a:srgbClr val="4C4C4D"/>
                </a:solidFill>
                <a:latin typeface="Heebo"/>
              </a:rPr>
              <a:t>cross-attention+PE looked like a stable −3.5% (σ = 0.0026). Both additional seeds fail (0.710 / 0.703, same code): at n = 5 the cell is +0.7% vs baseline, p = 0.83 — our corrected headline was itself a small-sample artifact.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The PE “ordering” mechanism dissolves too: </a:t>
            </a:r>
            <a:r>
              <a:rPr sz="1350">
                <a:solidFill>
                  <a:srgbClr val="4C4C4D"/>
                </a:solidFill>
                <a:latin typeface="Heebo"/>
              </a:rPr>
              <a:t>no-PE (0.6705 ± 0.0336) vs +PE indistinguishable (p = 0.76).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No no-map configuration beats the baseline. </a:t>
            </a:r>
            <a:r>
              <a:rPr sz="1350">
                <a:solidFill>
                  <a:srgbClr val="4C4C4D"/>
                </a:solidFill>
                <a:latin typeface="Heebo"/>
              </a:rPr>
              <a:t>26% of no-map pose runs (9/35) converge to minADE ≥ 0.70 — GRU and attention alike.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D47"/>
                </a:solidFill>
                <a:latin typeface="Crimson Pro SemiBold"/>
              </a:rPr>
              <a:t>The One Pose Benefit — Genuine Body Configuration, Not Heading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Survives (the only one): </a:t>
            </a:r>
            <a:r>
              <a:rPr sz="1350">
                <a:solidFill>
                  <a:srgbClr val="4C4C4D"/>
                </a:solidFill>
                <a:latin typeface="Heebo"/>
              </a:rPr>
              <a:t>HD map × cross-attention+PE = −1.57% minADE (p &lt; 0.0001; 5 seeds both arms; stable, σ = 0.004). GRU + map does not separate (−0.6%, p = 0.30); pretrained pose collapses at n = 5 (−0.7…−0.8%, n.s., both encoders).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Mechanism control 1 — root orientation zeroed (with map): </a:t>
            </a:r>
            <a:r>
              <a:rPr sz="1350">
                <a:solidFill>
                  <a:srgbClr val="4C4C4D"/>
                </a:solidFill>
                <a:latin typeface="Heebo"/>
              </a:rPr>
              <a:t>0.4800 ± 0.0046 ≈ full pose (p = 0.58), still −1.55% vs no-pose+map → the benefit does NOT ride on the heading-coupled root channel.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Mechanism control 2 — agent-centric pose frame: </a:t>
            </a:r>
            <a:r>
              <a:rPr sz="1350">
                <a:solidFill>
                  <a:srgbClr val="4C4C4D"/>
                </a:solidFill>
                <a:latin typeface="Heebo"/>
              </a:rPr>
              <a:t>0.4801 ± 0.0056 (p = 0.65) → no world-frame confound.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Interpretation: </a:t>
            </a:r>
            <a:r>
              <a:rPr sz="1350">
                <a:solidFill>
                  <a:srgbClr val="4C4C4D"/>
                </a:solidFill>
                <a:latin typeface="Heebo"/>
              </a:rPr>
              <a:t>with the map already supplying routing and heading context, the residual pose signal is body configuration. (In the no-map condition the earlier “heading re-entry” reading is moot — there is no established gain to decompose.)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Reference cells: </a:t>
            </a:r>
            <a:r>
              <a:rPr sz="1350">
                <a:solidFill>
                  <a:srgbClr val="4C4C4D"/>
                </a:solidFill>
                <a:latin typeface="Heebo"/>
              </a:rPr>
              <a:t>no-pose+map 0.4854 ± 0.0047 · GRU+map 0.4823 ± 0.0058 · xattn+PE+map 0.4778 ± 0.0041.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7395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What Actually Drives Accuracy: Context, Not Pose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37085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−26%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3097014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HD Map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505696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minADE improvement (p &lt; 1e-4). Large, seed-robust, trajectory-only — independent of pose.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363135" y="2237085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−23%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4363135" y="3097014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Full-Waymo Pretraining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363135" y="3505696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Further minADE improvement (p &lt; 1e-4). Large, seed-robust, trajectory-only — independent of pose.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64794" y="2237085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~1.6%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8064794" y="3097014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Pose (Best Case)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064794" y="3505696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An order of magnitude smaller than map or pretraining — and fragile across seeds and configurations.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1475" y="4625578"/>
            <a:ext cx="10868745" cy="1058366"/>
          </a:xfrm>
          <a:prstGeom prst="roundRect">
            <a:avLst>
              <a:gd name="adj" fmla="val 2679"/>
            </a:avLst>
          </a:prstGeom>
          <a:solidFill>
            <a:srgbClr val="CCD7FF"/>
          </a:solidFill>
          <a:ln/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4893270"/>
            <a:ext cx="236234" cy="1890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275723" y="4861818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Both HD map and full-Waymo backbone pretraining are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large, seed-robust, and trajectory-only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— independent of pose. Pose's best case (~1.6%) is an order of magnitude smaller — and the only seed-robust one.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45604"/>
            <a:ext cx="6296860" cy="886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52D47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Qualitative Examples (map + pretrained scale)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5233360" y="1591072"/>
            <a:ext cx="6296860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Four validation scenes selected from the </a:t>
            </a:r>
            <a:pPr algn="l" indent="0" marL="0">
              <a:lnSpc>
                <a:spcPct val="117000"/>
              </a:lnSpc>
              <a:buNone/>
            </a:pPr>
            <a:r>
              <a:rPr lang="en-US" sz="110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largest per-pedestrian improvements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— illustrative of what pose </a:t>
            </a:r>
            <a:pPr algn="l" indent="0" marL="0">
              <a:lnSpc>
                <a:spcPct val="117000"/>
              </a:lnSpc>
              <a:buNone/>
            </a:pPr>
            <a:r>
              <a:rPr lang="en-US" sz="110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can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fix, </a:t>
            </a:r>
            <a:pPr algn="l" indent="0" marL="0">
              <a:lnSpc>
                <a:spcPct val="117000"/>
              </a:lnSpc>
              <a:buNone/>
            </a:pPr>
            <a:r>
              <a:rPr lang="en-US" sz="1100" b="1" dirty="0">
                <a:solidFill>
                  <a:srgbClr val="4C4C4D"/>
                </a:solidFill>
                <a:latin typeface="Heebo Bold" pitchFamily="34" charset="0"/>
                <a:ea typeface="Heebo Bold" pitchFamily="34" charset="-122"/>
                <a:cs typeface="Heebo Bold" pitchFamily="34" charset="-120"/>
              </a:rPr>
              <a:t>not</a:t>
            </a:r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typical magnitudes:</a:t>
            </a:r>
            <a:endParaRPr lang="en-US" sz="11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2107505"/>
            <a:ext cx="6296860" cy="85060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29610" y="2399903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5925692" y="2268240"/>
            <a:ext cx="5443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Long-Distance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5925692" y="2553395"/>
            <a:ext cx="5443798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No-pose stops the prediction at ~5 m; pose follows the full ~25 m walk.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3064371"/>
            <a:ext cx="6296860" cy="8506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29610" y="3356769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2</a:t>
            </a:r>
            <a:endParaRPr lang="en-US" sz="1650" dirty="0"/>
          </a:p>
        </p:txBody>
      </p:sp>
      <p:sp>
        <p:nvSpPr>
          <p:cNvPr id="11" name="Text 6"/>
          <p:cNvSpPr/>
          <p:nvPr/>
        </p:nvSpPr>
        <p:spPr>
          <a:xfrm>
            <a:off x="5925692" y="3225105"/>
            <a:ext cx="5443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Curved Path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5925692" y="3510260"/>
            <a:ext cx="5443798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No-pose underestimates displacement; pose follows the curve.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4021237"/>
            <a:ext cx="6296860" cy="100349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429610" y="4390033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3</a:t>
            </a:r>
            <a:endParaRPr lang="en-US" sz="1650" dirty="0"/>
          </a:p>
        </p:txBody>
      </p:sp>
      <p:sp>
        <p:nvSpPr>
          <p:cNvPr id="15" name="Text 9"/>
          <p:cNvSpPr/>
          <p:nvPr/>
        </p:nvSpPr>
        <p:spPr>
          <a:xfrm>
            <a:off x="5925692" y="4181971"/>
            <a:ext cx="5443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Mode Coverage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5925692" y="4467126"/>
            <a:ext cx="5443798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Both top modes underestimate, but pose has a secondary mode aligned with the ground truth.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5130998"/>
            <a:ext cx="6296860" cy="85060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429610" y="5423396"/>
            <a:ext cx="2126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4</a:t>
            </a:r>
            <a:endParaRPr lang="en-US" sz="1650" dirty="0"/>
          </a:p>
        </p:txBody>
      </p:sp>
      <p:sp>
        <p:nvSpPr>
          <p:cNvPr id="19" name="Text 12"/>
          <p:cNvSpPr/>
          <p:nvPr/>
        </p:nvSpPr>
        <p:spPr>
          <a:xfrm>
            <a:off x="5925692" y="5291733"/>
            <a:ext cx="544379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Bold" pitchFamily="34" charset="0"/>
                <a:ea typeface="Crimson Pro SemiBold" pitchFamily="34" charset="-122"/>
                <a:cs typeface="Crimson Pro SemiBold" pitchFamily="34" charset="-120"/>
              </a:rPr>
              <a:t>Stationary</a:t>
            </a:r>
            <a:endParaRPr lang="en-US" sz="1350" dirty="0"/>
          </a:p>
        </p:txBody>
      </p:sp>
      <p:sp>
        <p:nvSpPr>
          <p:cNvPr id="20" name="Text 13"/>
          <p:cNvSpPr/>
          <p:nvPr/>
        </p:nvSpPr>
        <p:spPr>
          <a:xfrm>
            <a:off x="5925692" y="5576888"/>
            <a:ext cx="5443798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No-pose wrongly predicts motion; pose correctly stays near the origin.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5233360" y="6101159"/>
            <a:ext cx="6906444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</p:txBody>
      </p:sp>
      <p:sp>
        <p:nvSpPr>
          <p:cNvPr id="22" name="Shape 15"/>
          <p:cNvSpPr/>
          <p:nvPr/>
        </p:nvSpPr>
        <p:spPr>
          <a:xfrm>
            <a:off x="6073722" y="6101159"/>
            <a:ext cx="883422" cy="196850"/>
          </a:xfrm>
          <a:prstGeom prst="roundRect">
            <a:avLst>
              <a:gd name="adj" fmla="val 10802"/>
            </a:avLst>
          </a:prstGeom>
          <a:solidFill>
            <a:srgbClr val="F2F2F2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52D47"/>
                </a:solidFill>
                <a:latin typeface="Crimson Pro SemiBold"/>
              </a:rPr>
              <a:t>Qualitative Examples — No-Pose (red) vs Pose (blue)</a:t>
            </a:r>
          </a:p>
        </p:txBody>
      </p:sp>
      <p:pic>
        <p:nvPicPr>
          <p:cNvPr id="3" name="Picture 2" descr="fig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" y="1143000"/>
            <a:ext cx="11155680" cy="305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28470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4C4C4D"/>
                </a:solidFill>
                <a:latin typeface="Heebo"/>
              </a:rPr>
              <a:t>Four validation scenes (map + pretrained scale), selected from the largest per-pedestrian improvements — illustrative, not typical. Past in gray; GT future dashed with ★; top-scoring mode highlighted (red = no-pose, blue = pose). Left→right: long-distance, curved, mode coverage, stationary.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D47"/>
                </a:solidFill>
                <a:latin typeface="Crimson Pro SemiBold"/>
              </a:rPr>
              <a:t>Methodology, the Mask Fix &amp;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What caught three headline effects: </a:t>
            </a:r>
            <a:r>
              <a:rPr sz="1350">
                <a:solidFill>
                  <a:srgbClr val="4C4C4D"/>
                </a:solidFill>
                <a:latin typeface="Heebo"/>
              </a:rPr>
              <a:t>target-coverage + per-term gradient checks; seed replication 3 → 5 (small benchmarks are heavy-tailed; a tight n=3 cluster is exactly how artifacts look); hierarchical bootstrap (resample seeds, then pedestrians) as the conservative test; ~30 pairs uncorrected — relied-upon effects (p ≤ 1e-4) survive Bonferroni.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Mask fix (released code): </a:t>
            </a:r>
            <a:r>
              <a:rPr sz="1350">
                <a:solidFill>
                  <a:srgbClr val="4C4C4D"/>
                </a:solidFill>
                <a:latin typeface="Heebo"/>
              </a:rPr>
              <a:t>masking the future-pose losses removes the WTA-specific catastrophic tail (worst seed 0.897 → 0.679) but adds no signal — at n = 5 no masked cell differs from the masked baseline (all p ≥ 0.15), and degraded seeds occur even with no active auxiliary. Baseline unchanged (0.6605 vs 0.6604, p = 0.90).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Code provenance: </a:t>
            </a:r>
            <a:r>
              <a:rPr sz="1350">
                <a:solidFill>
                  <a:srgbClr val="4C4C4D"/>
                </a:solidFill>
                <a:latin typeface="Heebo"/>
              </a:rPr>
              <a:t>pre-fix cells were extended with pre-fix code (pinned worktree) — the xattn+PE collapse replicates under clean provenance (0.710/0.703), so the retraction is provenance-proof.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External anchor: </a:t>
            </a:r>
            <a:r>
              <a:rPr sz="1350">
                <a:solidFill>
                  <a:srgbClr val="4C4C4D"/>
                </a:solidFill>
                <a:latin typeface="Heebo"/>
              </a:rPr>
              <a:t>MR@2m = 0.239 (no map) → 0.145 (map) → 0.093 (pretrained); pose moves it ≤ 0.005 anywhere. Official Waymo mAP not reported: full predictions not retained by the per-epoch protocol.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D47"/>
                </a:solidFill>
                <a:latin typeface="Crimson Pro SemiBold"/>
              </a:rPr>
              <a:t>Conclusion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1. </a:t>
            </a:r>
            <a:r>
              <a:rPr sz="1350">
                <a:solidFill>
                  <a:srgbClr val="4C4C4D"/>
                </a:solidFill>
                <a:latin typeface="Heebo"/>
              </a:rPr>
              <a:t>The geodesic −7.6% was an inert loss + seed noise (zero gradient vs absent targets).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2. </a:t>
            </a:r>
            <a:r>
              <a:rPr sz="1350">
                <a:solidFill>
                  <a:srgbClr val="4C4C4D"/>
                </a:solidFill>
                <a:latin typeface="Heebo"/>
              </a:rPr>
              <a:t>No-map: nothing beats the no-pose baseline at 5 seeds; the −3.5% encoder claim and the PE-ordering mechanism were artifacts #2 and #3; training is heavy-tailed (26% failures).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3. </a:t>
            </a:r>
            <a:r>
              <a:rPr sz="1350">
                <a:solidFill>
                  <a:srgbClr val="4C4C4D"/>
                </a:solidFill>
                <a:latin typeface="Heebo"/>
              </a:rPr>
              <a:t>Pose helps in exactly one configuration: map × cross-attention+PE, −1.6% (p &lt; 1e-4) — and controls show it is genuine body-configuration signal (robust to root-zeroing and frame change).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4. </a:t>
            </a:r>
            <a:r>
              <a:rPr sz="1350">
                <a:solidFill>
                  <a:srgbClr val="4C4C4D"/>
                </a:solidFill>
                <a:latin typeface="Heebo"/>
              </a:rPr>
              <a:t>Context dominates: HD map −26%, full-Waymo pretraining −23%, both trajectory-only. Mechanism: past-pose encoding, not future-pose prediction (30 fps supervision null, −0.5%, p = 0.60).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Limitations: </a:t>
            </a:r>
            <a:r>
              <a:rPr sz="1350">
                <a:solidFill>
                  <a:srgbClr val="4C4C4D"/>
                </a:solidFill>
                <a:latin typeface="Heebo"/>
              </a:rPr>
              <a:t>pose GT exists only for the 579-scene subset (full-scale pose-conditioning infeasible); LiDAR pseudo-GT; single validation split; best-checkpoint selection; 3–5-seed hierarchical bootstrap is coarse.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Lasting contribution: </a:t>
            </a:r>
            <a:r>
              <a:rPr sz="1350">
                <a:solidFill>
                  <a:srgbClr val="4C4C4D"/>
                </a:solidFill>
                <a:latin typeface="Heebo"/>
              </a:rPr>
              <a:t>the audit + seed-replication methodology — it caught three of our own headline effects.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D47"/>
                </a:solidFill>
                <a:latin typeface="Crimson Pro SemiBold"/>
              </a:rPr>
              <a:t>Backup — “But the 30 fps Version Has Future Poses?”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Yes — tested, seed-replicated (5 seeds each). </a:t>
            </a:r>
            <a:r>
              <a:rPr sz="1350">
                <a:solidFill>
                  <a:srgbClr val="4C4C4D"/>
                </a:solidFill>
                <a:latin typeface="Heebo"/>
              </a:rPr>
              <a:t>Both versions share the same ~7 real pose observations (~0.6 s); 30 fps fills the future with a motion prior (predicted pseudo-GT, not measured). 10 fps: 5 of 91,520 future-pose steps non-zero → losses inert. 30 fps: 88,909 non-zero → real gradients.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4C4C4D"/>
                </a:solidFill>
                <a:latin typeface="Heebo"/>
              </a:rPr>
              <a:t/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880360"/>
          <a:ext cx="1088136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4297680"/>
              </a:tblGrid>
              <a:tr h="32003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2D47"/>
                          </a:solidFill>
                          <a:latin typeface="Heebo"/>
                        </a:rPr>
                        <a:t>Condition (full loss 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2D47"/>
                          </a:solidFill>
                          <a:latin typeface="Heebo"/>
                        </a:rPr>
                        <a:t>minADE (n=5)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2D47"/>
                          </a:solidFill>
                          <a:latin typeface="Heebo"/>
                        </a:rPr>
                        <a:t>per-seed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10 fps — future losses inert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0.6618 ± 0.0366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.668 .674 .630 .623 .714</a:t>
                      </a:r>
                    </a:p>
                  </a:txBody>
                  <a:tcPr/>
                </a:tc>
              </a:tr>
              <a:tr h="32004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30 fps — future losses 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0.6586 ± 0.0292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C4C4D"/>
                          </a:solidFill>
                          <a:latin typeface="Heebo"/>
                        </a:rPr>
                        <a:t>.656 .654 .634 .641 .708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Result: </a:t>
            </a:r>
            <a:r>
              <a:rPr sz="1350">
                <a:solidFill>
                  <a:srgbClr val="4C4C4D"/>
                </a:solidFill>
                <a:latin typeface="Heebo"/>
              </a:rPr>
              <a:t>activating the future-pose losses: −0.5%, hierarchical p = 0.60 → not significant; both conditions carry the same heavy-tailed seeds as every other no-map cell.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 b="1">
                <a:solidFill>
                  <a:srgbClr val="152D47"/>
                </a:solidFill>
                <a:latin typeface="Heebo"/>
              </a:rPr>
              <a:t>▸  ⇒ </a:t>
            </a:r>
            <a:r>
              <a:rPr sz="1350">
                <a:solidFill>
                  <a:srgbClr val="4C4C4D"/>
                </a:solidFill>
                <a:latin typeface="Heebo"/>
              </a:rPr>
              <a:t>Even with real gradients, future-pose supervision doesn't help; the (map-only) benefit comes from encoding past body configuration.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2026-07-20T11:37:43Z</dcterms:created>
  <dcterms:modified xsi:type="dcterms:W3CDTF">2026-07-20T11:37:43Z</dcterms:modified>
</cp:coreProperties>
</file>