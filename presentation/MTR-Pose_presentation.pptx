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3.svg" ContentType="image/svg+xml"/>
  <Override PartName="/ppt/media/image-2-5.svg" ContentType="image/svg+xml"/>
  <Override PartName="/ppt/media/image-7-3.svg" ContentType="image/svg+xml"/>
  <Override PartName="/ppt/media/image-7-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66" r:id="rId38"/>
    <p:sldId id="258" r:id="rId4"/>
    <p:sldId id="259" r:id="rId5"/>
    <p:sldId id="260" r:id="rId6"/>
    <p:sldId id="261" r:id="rId7"/>
    <p:sldId id="262" r:id="rId8"/>
    <p:sldId id="267" r:id="rId39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38" Type="http://schemas.openxmlformats.org/officeDocument/2006/relationships/slide" Target="slides/slide3.xml"/><Relationship Id="rId39" Type="http://schemas.openxmlformats.org/officeDocument/2006/relationships/slide" Target="slides/slide9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Relationship Id="rId201330" Type="http://schemas.openxmlformats.org/officeDocument/2006/relationships/font" Target="fonts/201330.fntdata"/><Relationship Id="rId201331" Type="http://schemas.openxmlformats.org/officeDocument/2006/relationships/font" Target="fonts/201331.fntdata"/><Relationship Id="rId201332" Type="http://schemas.openxmlformats.org/officeDocument/2006/relationships/font" Target="fonts/201332.fntdata"/><Relationship Id="rId201333" Type="http://schemas.openxmlformats.org/officeDocument/2006/relationships/font" Target="fonts/201333.fntdata"/><Relationship Id="rId201334" Type="http://schemas.openxmlformats.org/officeDocument/2006/relationships/font" Target="fonts/20133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65586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Much Does Body Pose Help Pedestrian Trajectory Forecasting?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03414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Seed-Replicated Study and Auxiliary-Loss Audit on Waymo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4082157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Pose-conditioned Motion Transformer (MTR) on the Waymo Open Motion Dataset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 · Advisor · Date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11994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Question, Setup &amp; Roadmap</a:t>
            </a:r>
            <a:endParaRPr lang="en-US" sz="3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418828"/>
            <a:ext cx="6296860" cy="140543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9239" y="159851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Research Question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489239" y="1931392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Forecasters (MTR) use position, velocity, and HD-map geometry but ignore the pedestrian's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body pose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which plausibly encodes intent (gait, torso orientation). </a:t>
            </a:r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Does conditioning MTR on past SMPL poses help — and what drives the gain?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960787"/>
            <a:ext cx="6296860" cy="1643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9239" y="3140472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Setup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489239" y="3473351"/>
            <a:ext cx="586130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MTR + pose branch (past 11 SMPL poses, 6-D rotations; GRU or cross-attention encoder) + auxiliary future-pose losses · Waymo pedestrian subset (579 train scenes; 6,688 eval pedestrians) · LiDAR-derived SMPL pseudo-GT (Waymo-3DSkelMo) · metric minADE/minFDE over 6 modes.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740473"/>
            <a:ext cx="6296860" cy="14054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9239" y="4920159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Roadmap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489239" y="5253038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result </a:t>
            </a:r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two corrections of our own results: both retractions were caught by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seed replication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Bottom line: pose helps in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exactly one configuration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by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~1.6%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and even that is largely a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heading artifact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52D47"/>
                </a:solidFill>
                <a:latin typeface="Crimson Pro SemiBold"/>
              </a:rPr>
              <a:t>Architecture: What We Changed in MTR</a:t>
            </a:r>
          </a:p>
        </p:txBody>
      </p:sp>
      <p:pic>
        <p:nvPicPr>
          <p:cNvPr id="3" name="Picture 2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48840"/>
            <a:ext cx="6400800" cy="26232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881846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4C4C4D"/>
                </a:solidFill>
                <a:latin typeface="Heebo"/>
              </a:rPr>
              <a:t>MTR + pose branch. Our additions are the pose pathway (blue); the MTR context encoder, map attention, and GMM trajectory decoder are unchanged.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1371600"/>
            <a:ext cx="47091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52D47"/>
                </a:solidFill>
                <a:latin typeface="Heebo"/>
              </a:rPr>
              <a:t>▸  Pose encoder — </a:t>
            </a:r>
            <a:r>
              <a:rPr sz="1350">
                <a:solidFill>
                  <a:srgbClr val="4C4C4D"/>
                </a:solidFill>
                <a:latin typeface="Heebo"/>
              </a:rPr>
              <a:t>2-layer GRU (or cross-attention + sinusoidal PE) over the past 11 SMPL poses (144-D, 6-D rotations) → 256-D pose feature.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52D47"/>
                </a:solidFill>
                <a:latin typeface="Heebo"/>
              </a:rPr>
              <a:t>▸  Pose fusion — </a:t>
            </a:r>
            <a:r>
              <a:rPr sz="1350">
                <a:solidFill>
                  <a:srgbClr val="4C4C4D"/>
                </a:solidFill>
                <a:latin typeface="Heebo"/>
              </a:rPr>
              <a:t>concatenated with the MTR agent feature and projected by an MLP “fuser”; a residual zero-init variant preserves a pretrained backbone when fine-tuning.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52D47"/>
                </a:solidFill>
                <a:latin typeface="Heebo"/>
              </a:rPr>
              <a:t>▸  Auxiliary pose heads — </a:t>
            </a:r>
            <a:r>
              <a:rPr sz="1350">
                <a:solidFill>
                  <a:srgbClr val="4C4C4D"/>
                </a:solidFill>
                <a:latin typeface="Heebo"/>
              </a:rPr>
              <a:t>per decoder layer, predict future poses (24 joints × 6-D, 6 modes) plus a pose-mode classifier.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52D47"/>
                </a:solidFill>
                <a:latin typeface="Heebo"/>
              </a:rPr>
              <a:t>▸  Auxiliary pose losses — </a:t>
            </a:r>
            <a:r>
              <a:rPr sz="1350">
                <a:solidFill>
                  <a:srgbClr val="4C4C4D"/>
                </a:solidFill>
                <a:latin typeface="Heebo"/>
              </a:rPr>
              <a:t>WTA-L1, geodesic, MPJPE, classification (w = 0.1). Our audit shows these are inert on 10-fps data.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52D47"/>
                </a:solidFill>
                <a:latin typeface="Heebo"/>
              </a:rPr>
              <a:t>▸  Correctness &amp; evaluation — </a:t>
            </a:r>
            <a:r>
              <a:rPr sz="1350">
                <a:solidFill>
                  <a:srgbClr val="4C4C4D"/>
                </a:solidFill>
                <a:latin typeface="Heebo"/>
              </a:rPr>
              <a:t>future-pose validity mask; per-pedestrian paired + hierarchical (seed) bootstrap.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1620"/>
            <a:ext cx="10868745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Part 1 — Auxiliary-Loss Audit: an Inert Loss Credited With the Headline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2082998"/>
            <a:ext cx="5218776" cy="2908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earlier draft claimed: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"geodesic SO(3) supervision is the critical ingredient"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−7.6% minADE</a:t>
            </a:r>
            <a:pPr algn="l" indent="0" marL="0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Why this is impossible: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the 10 fps data, future-pose targets are absent — only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 of 91,520</a:t>
            </a:r>
            <a:pPr algn="l" indent="0" marL="0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future-pose steps are non-zero.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zero 6-D target maps to the all-zero rotation ⇒ geodesic loss ≡ arccos(−½), a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constant with identically zero gradient</a:t>
            </a:r>
            <a:pPr algn="l" indent="0" marL="0">
              <a:lnSpc>
                <a:spcPct val="129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(verified numerically).</a:t>
            </a:r>
            <a:endParaRPr lang="en-US" sz="13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two "different" configurations compared were the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same experiment under different seeds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317794" y="2120205"/>
            <a:ext cx="2526741" cy="2439194"/>
          </a:xfrm>
          <a:prstGeom prst="roundRect">
            <a:avLst>
              <a:gd name="adj" fmla="val 1087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94498" y="2296914"/>
            <a:ext cx="2173332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Check 1: Target Coverage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94498" y="3014464"/>
            <a:ext cx="2173332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every loss against the data — verify that targets are actually non-zero before crediting any improvement.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009829" y="2120205"/>
            <a:ext cx="2526741" cy="2439194"/>
          </a:xfrm>
          <a:prstGeom prst="roundRect">
            <a:avLst>
              <a:gd name="adj" fmla="val 1087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86533" y="2296914"/>
            <a:ext cx="2173332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Check 2: Per-Term Gradient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86533" y="3014464"/>
            <a:ext cx="2173332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Inspect per-term gradients on a real batch — a constant loss produces identically zero gradients and cannot drive learning.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5326658"/>
            <a:ext cx="10868745" cy="949623"/>
          </a:xfrm>
          <a:prstGeom prst="roundRect">
            <a:avLst>
              <a:gd name="adj" fmla="val 2792"/>
            </a:avLst>
          </a:prstGeom>
          <a:solidFill>
            <a:srgbClr val="FFB3B4"/>
          </a:solidFill>
          <a:ln/>
        </p:spPr>
        <p:txBody>
          <a:bodyPr/>
          <a:p/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5576987"/>
            <a:ext cx="220855" cy="17670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5739" y="5536109"/>
            <a:ext cx="10117777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−7.6% minADE headline was a seed artifact. Two cheap checks — target coverage and per-term gradient inspection — would have caught it immediately.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96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Part 2 — Seed Replication Reveals a </a:t>
            </a:r>
            <a:pPr algn="l" indent="0" marL="0">
              <a:lnSpc>
                <a:spcPct val="104000"/>
              </a:lnSpc>
              <a:buNone/>
            </a:pPr>
            <a:r>
              <a:rPr lang="en-US" sz="3500" i="1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Second</a:t>
            </a:r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Artifact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03263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No-map main result — best-checkpoint minADE,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 seeds each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75247"/>
            <a:ext cx="10868745" cy="2525018"/>
          </a:xfrm>
          <a:prstGeom prst="roundRect">
            <a:avLst>
              <a:gd name="adj" fmla="val 106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1475" y="2482155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475" y="2985889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61475" y="3489623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61475" y="3993356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7307" y="2090241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Encoder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75330" y="2090241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minADE (mean ± std)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7307" y="2593975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pose (baseline)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75330" y="2593975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0.6604 ± 0.0143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7307" y="3097709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GRU + WTA-L1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75330" y="3097709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0.6853 ± 0.0651  (worse; seeds 0.629–0.897)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7307" y="3601442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GRU, no auxiliary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5330" y="3601442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0.6545 ± 0.0271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7307" y="4105176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Cross-attention + 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5330" y="4105176"/>
            <a:ext cx="567864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0.6549 ± 0.0278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1475" y="4692154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8843" y="472583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6036" y="4753868"/>
            <a:ext cx="290614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At n = 3: Misleading Stability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236036" y="5136654"/>
            <a:ext cx="2906144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Cross-attention+PE looked like a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stable −3.5%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(σ = 0.0026) — a compelling headline result.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55396" y="4692154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422764" y="472583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929957" y="4753868"/>
            <a:ext cx="290624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At n = 5: Artifact Exposed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29957" y="5136654"/>
            <a:ext cx="2906243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Seeds 404/505 revealed one heavy-tailed failure (minADE ≈ 1.0): result collapses to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−0.8%, not significant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(hierarchical p = 0.70).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49416" y="4692154"/>
            <a:ext cx="404009" cy="404019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16784" y="472583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623977" y="4753868"/>
            <a:ext cx="290624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8623977" y="5136654"/>
            <a:ext cx="290624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 no-map configuration reliably beats the no-pose baseline.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4320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One Pose Benefit That Survives — and It's Mostly "Heading"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61475" y="2704306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Survives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3155355"/>
            <a:ext cx="29293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Cross-attention+PE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× HD map: −1.57% minADE, p &lt; 0.0001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(5 seeds, stable, σ = 0.004).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4149130"/>
            <a:ext cx="2929360" cy="1460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Needs the right encoder: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GRU + map = −0.0% (p = 0.99)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full-Waymo pretraining, the pose benefit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collapses at 5 seeds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−0.7%, p = 0.35.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35324" y="2704306"/>
            <a:ext cx="292936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Root-Orientation Control Ablation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35324" y="3435846"/>
            <a:ext cx="2929360" cy="2674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the root-orientation channel (keep body joints) → minADE 0.6633,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indistinguishable from baseline</a:t>
            </a:r>
            <a:pPr algn="l"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 = 0.51) and +4.1% worse than full pose (p &lt; 1e-4).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pipeline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snaps root orientation to past heading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⇒ most of the "pose benefit" is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past heading re-entering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body configuration.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395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Actually Drives Accuracy: Context, Not Pose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3708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−26%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09701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HD Map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50569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minADE improvement (p &lt; 1e-4). Large, seed-robust, trajectory-only — independent of pose.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23708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−22%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09701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Full-Waymo Pretraining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50569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Further minADE improvement (p &lt; 1e-4). Large, seed-robust, trajectory-only — independent of pose.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23708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~1.6%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09701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Pose (Best Case)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50569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order of magnitude smaller than map or pretraining — and fragile across seeds and configurations.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25578"/>
            <a:ext cx="10868745" cy="1058366"/>
          </a:xfrm>
          <a:prstGeom prst="roundRect">
            <a:avLst>
              <a:gd name="adj" fmla="val 2679"/>
            </a:avLst>
          </a:prstGeom>
          <a:solidFill>
            <a:srgbClr val="CCD7FF"/>
          </a:solidFill>
          <a:ln/>
        </p:spPr>
        <p:txBody>
          <a:bodyPr/>
          <a:p/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893270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861818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Both HD map and full-Waymo backbone pretraining are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large, seed-robust, and trajectory-only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independent of pose. Pose's best case (~1.6%) is an order of magnitude smaller and fragile.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5604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Qualitative Examples (map + pretrained scale)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591072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Four validation scenes selected from the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largest per-pedestrian improvements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illustrative of what pose </a:t>
            </a:r>
            <a:pPr algn="l" indent="0" marL="0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fix, </a:t>
            </a:r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typical magnitudes: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07505"/>
            <a:ext cx="6296860" cy="8506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29610" y="23999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925692" y="2268240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Long-Distance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25692" y="2553395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No-pose stops the prediction at ~5 m; pose follows the full ~25 m walk.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64371"/>
            <a:ext cx="6296860" cy="850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29610" y="335676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5925692" y="3225105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Curved Path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5925692" y="3510260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No-pose underestimates displacement; pose follows the curve.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21237"/>
            <a:ext cx="6296860" cy="10034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29610" y="439003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5925692" y="4181971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 Coverage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5925692" y="4467126"/>
            <a:ext cx="5443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Both top modes underestimate, but pose has a secondary mode aligned with the ground truth.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130998"/>
            <a:ext cx="6296860" cy="8506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29610" y="542339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5925692" y="5291733"/>
            <a:ext cx="5443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Stationary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925692" y="5576888"/>
            <a:ext cx="5443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No-pose wrongly predicts motion; pose correctly stays near the origin.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233360" y="6101159"/>
            <a:ext cx="6906444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</p:txBody>
      </p:sp>
      <p:sp>
        <p:nvSpPr>
          <p:cNvPr id="22" name="Shape 15"/>
          <p:cNvSpPr/>
          <p:nvPr/>
        </p:nvSpPr>
        <p:spPr>
          <a:xfrm>
            <a:off x="6073722" y="6101159"/>
            <a:ext cx="883422" cy="196850"/>
          </a:xfrm>
          <a:prstGeom prst="roundRect">
            <a:avLst>
              <a:gd name="adj" fmla="val 10802"/>
            </a:avLst>
          </a:prstGeom>
          <a:solidFill>
            <a:srgbClr val="F2F2F2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52D47"/>
                </a:solidFill>
                <a:latin typeface="Crimson Pro SemiBold"/>
              </a:rPr>
              <a:t>Qualitative Examples — No-Pose (red) vs Pose (blue)</a:t>
            </a:r>
          </a:p>
        </p:txBody>
      </p:sp>
      <p:pic>
        <p:nvPicPr>
          <p:cNvPr id="3" name="Picture 2" descr="fig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" y="1143000"/>
            <a:ext cx="11155680" cy="30502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84702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i="1">
                <a:solidFill>
                  <a:srgbClr val="4C4C4D"/>
                </a:solidFill>
                <a:latin typeface="Heebo"/>
              </a:rPr>
              <a:t>Four validation scenes (map + pretrained scale), selected from the largest per-pedestrian improvements — illustrative, not typical. Past in gray; GT future dashed with ★; top-scoring mode highlighted (red = no-pose, blue = pose). Left→right: long-distance, curved, mode coverage, stationary.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86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Methodology, the Mask Fix &amp; Reproducibility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18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Caught Two Headlines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56111"/>
            <a:ext cx="5203794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Target-coverage + per-term gradient checks for every auxiliary loss.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Seed replication (3 → 5 seeds); small benchmarks are heavy-tailed.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Hierarchical bootstrap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(resample seeds, then pedestrians) — the conservative significance test. Pedestrian-only bootstrap alone would have called several artifacts "significant."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3718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Mask Fix Results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856111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Adding a future-pose validity mask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removes the catastrophic training tail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631009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WTA-L1 worst seed: 0.897 → 0.679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WTA-L1 σ: 0.065 → 0.011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4471987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However, the mask fix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adds no signal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(baseline unchanged, p = 0.95). The seed matrix reproduces at the pre-fix commit; released code masks the losses.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29741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Limitations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617365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33360" y="2068413"/>
            <a:ext cx="2929360" cy="4100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Pose helps in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exactly one configuration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(map × cross-attention+PE), by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~1.6%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largely heading re-entry.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Context dominates: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map (−26%) and pretraining (−22%), both trajectory-only.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Two of our own headline claims (−7.6%, −3.5%) were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seed artifacts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Lasting contribution: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audit + seed-replication methodology — a reproducible cautionary tale for few-seed ablations.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07210" y="1617365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Limitations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07210" y="2068413"/>
            <a:ext cx="2929360" cy="1740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Pose GT exists only for the 579-scene subset → cannot pose-condition at full scale, even in principle.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Single validation split; heading-coupled pseudo-GT.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08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Backup — "But the 30 fps Version Has Future Poses?"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85887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Yes — and we tested exactly that.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Both 10 fps and 30 fps share the same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 real pose observations (~0.6 s)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; 30 fps fills the remaining ~84 future frames with a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motion prior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(predicted pseudo-GT, </a:t>
            </a:r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measured).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75259"/>
            <a:ext cx="10868745" cy="1214735"/>
          </a:xfrm>
          <a:prstGeom prst="roundRect">
            <a:avLst>
              <a:gd name="adj" fmla="val 2101"/>
            </a:avLst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61475" y="2075259"/>
            <a:ext cx="5434373" cy="1214735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31532" y="2245320"/>
            <a:ext cx="509425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 fps (Main Condition)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1532" y="2602805"/>
            <a:ext cx="509425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 of 91,520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future-pose steps are non-zero → geodesic/MPJPE losses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inert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(verified on the raw files).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2075259"/>
            <a:ext cx="5434373" cy="1214735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95848" y="2075259"/>
            <a:ext cx="19050" cy="1214735"/>
          </a:xfrm>
          <a:prstGeom prst="roundRect">
            <a:avLst>
              <a:gd name="adj" fmla="val 133950"/>
            </a:avLst>
          </a:prstGeom>
          <a:solidFill>
            <a:srgbClr val="D8D4D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65904" y="2245320"/>
            <a:ext cx="509425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30 fps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265904" y="2602805"/>
            <a:ext cx="509425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Dense future poses (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88,909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non-zero steps) → the losses get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real gradients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462238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Seed-replicated result (3 seeds each):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893046"/>
            <a:ext cx="10868745" cy="1415256"/>
          </a:xfrm>
          <a:prstGeom prst="roundRect">
            <a:avLst>
              <a:gd name="adj" fmla="val 180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61475" y="4357390"/>
            <a:ext cx="10868745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61475" y="4831259"/>
            <a:ext cx="10868745" cy="1063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7881" y="3997523"/>
            <a:ext cx="56974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Condition (full loss set)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5904" y="3997523"/>
            <a:ext cx="56974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minADE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7881" y="4458692"/>
            <a:ext cx="5697494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 fps — future losses inert (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5904" y="4458692"/>
            <a:ext cx="56974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0.6574 ± 0.0237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7881" y="4932561"/>
            <a:ext cx="5697494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 fps — future losses active (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pose30fps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5904" y="4932561"/>
            <a:ext cx="569749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0.6480 ± 0.0123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1475" y="5480546"/>
            <a:ext cx="10868745" cy="82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Activating the future-pose losses: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−1.4%, hierarchical p = 0.13 → not significant.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⇒ Even with real gradients, future-pose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supervision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doesn't reliably help; the small, fragile benefit is the 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past-pose encoder</a:t>
            </a:r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not the prediction task.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2026-07-20T11:37:43Z</dcterms:created>
  <dcterms:modified xsi:type="dcterms:W3CDTF">2026-07-20T11:37:43Z</dcterms:modified>
</cp:coreProperties>
</file>